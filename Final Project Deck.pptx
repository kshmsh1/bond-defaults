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Garamond"/>
      <p:regular r:id="rId18"/>
      <p:bold r:id="rId19"/>
      <p:italic r:id="rId20"/>
      <p:boldItalic r:id="rId21"/>
    </p:embeddedFont>
    <p:embeddedFont>
      <p:font typeface="EB Garamond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gO2jEI9GcswHARSa87tT8TUuZR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aramond-italic.fntdata"/><Relationship Id="rId22" Type="http://schemas.openxmlformats.org/officeDocument/2006/relationships/font" Target="fonts/EBGaramond-regular.fntdata"/><Relationship Id="rId21" Type="http://schemas.openxmlformats.org/officeDocument/2006/relationships/font" Target="fonts/Garamond-boldItalic.fntdata"/><Relationship Id="rId24" Type="http://schemas.openxmlformats.org/officeDocument/2006/relationships/font" Target="fonts/EBGaramond-italic.fntdata"/><Relationship Id="rId23" Type="http://schemas.openxmlformats.org/officeDocument/2006/relationships/font" Target="fonts/EBGaramon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EBGaramond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Garamond-bold.fntdata"/><Relationship Id="rId18" Type="http://schemas.openxmlformats.org/officeDocument/2006/relationships/font" Target="fonts/Garamon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Matthew</a:t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df5b7acfc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4df5b7acfc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g34df5b7acfc_0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db5ca921c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4db5ca921c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Matthew</a:t>
            </a:r>
            <a:endParaRPr/>
          </a:p>
        </p:txBody>
      </p:sp>
      <p:sp>
        <p:nvSpPr>
          <p:cNvPr id="139" name="Google Shape;139;g34db5ca921c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4db5ca921c_0_1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4db5ca921c_0_1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Matthew</a:t>
            </a:r>
            <a:endParaRPr/>
          </a:p>
        </p:txBody>
      </p:sp>
      <p:sp>
        <p:nvSpPr>
          <p:cNvPr id="152" name="Google Shape;152;g34db5ca921c_0_1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4db5ca921c_0_2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4db5ca921c_0_2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Matthew</a:t>
            </a:r>
            <a:endParaRPr/>
          </a:p>
        </p:txBody>
      </p:sp>
      <p:sp>
        <p:nvSpPr>
          <p:cNvPr id="165" name="Google Shape;165;g34db5ca921c_0_2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4db5ca921c_0_2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4db5ca921c_0_2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Matthew</a:t>
            </a:r>
            <a:endParaRPr/>
          </a:p>
        </p:txBody>
      </p:sp>
      <p:sp>
        <p:nvSpPr>
          <p:cNvPr id="178" name="Google Shape;178;g34db5ca921c_0_2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4db5ca921c_0_2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4db5ca921c_0_2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Matthew</a:t>
            </a:r>
            <a:endParaRPr/>
          </a:p>
        </p:txBody>
      </p:sp>
      <p:sp>
        <p:nvSpPr>
          <p:cNvPr id="191" name="Google Shape;191;g34db5ca921c_0_2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4db5ca921c_0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4db5ca921c_0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Matthew</a:t>
            </a:r>
            <a:endParaRPr/>
          </a:p>
        </p:txBody>
      </p:sp>
      <p:sp>
        <p:nvSpPr>
          <p:cNvPr id="204" name="Google Shape;204;g34db5ca921c_0_1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4db5ca921c_0_2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4db5ca921c_0_2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Matthew</a:t>
            </a:r>
            <a:endParaRPr/>
          </a:p>
        </p:txBody>
      </p:sp>
      <p:sp>
        <p:nvSpPr>
          <p:cNvPr id="214" name="Google Shape;214;g34db5ca921c_0_2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4db5ca921c_0_2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4db5ca921c_0_2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g34db5ca921c_0_2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4db5ca921c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4db5ca921c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g34db5ca921c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4df5b7acfc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4df5b7acfc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g34df5b7acfc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 showMasterSp="0">
  <p:cSld name="3_Custom Layou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519440" y="24869"/>
            <a:ext cx="10834360" cy="1025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b="0" sz="3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3" name="Google Shape;23;p23"/>
          <p:cNvCxnSpPr/>
          <p:nvPr/>
        </p:nvCxnSpPr>
        <p:spPr>
          <a:xfrm>
            <a:off x="519440" y="863202"/>
            <a:ext cx="11153120" cy="0"/>
          </a:xfrm>
          <a:prstGeom prst="straightConnector1">
            <a:avLst/>
          </a:prstGeom>
          <a:noFill/>
          <a:ln cap="flat" cmpd="sng" w="38100">
            <a:solidFill>
              <a:srgbClr val="1A0D4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" name="Google Shape;24;p23"/>
          <p:cNvCxnSpPr/>
          <p:nvPr/>
        </p:nvCxnSpPr>
        <p:spPr>
          <a:xfrm>
            <a:off x="519440" y="6320600"/>
            <a:ext cx="11153120" cy="0"/>
          </a:xfrm>
          <a:prstGeom prst="straightConnector1">
            <a:avLst/>
          </a:prstGeom>
          <a:noFill/>
          <a:ln cap="flat" cmpd="sng" w="38100">
            <a:solidFill>
              <a:srgbClr val="1A0D4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" name="Google Shape;25;p23"/>
          <p:cNvSpPr txBox="1"/>
          <p:nvPr/>
        </p:nvSpPr>
        <p:spPr>
          <a:xfrm>
            <a:off x="10596295" y="6471719"/>
            <a:ext cx="149145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" name="Google Shape;26;p23"/>
          <p:cNvSpPr txBox="1"/>
          <p:nvPr>
            <p:ph idx="1" type="body"/>
          </p:nvPr>
        </p:nvSpPr>
        <p:spPr>
          <a:xfrm>
            <a:off x="519440" y="6381397"/>
            <a:ext cx="9261168" cy="34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2" type="body"/>
          </p:nvPr>
        </p:nvSpPr>
        <p:spPr>
          <a:xfrm>
            <a:off x="507663" y="964867"/>
            <a:ext cx="10834359" cy="481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Garamond"/>
                <a:ea typeface="Garamond"/>
                <a:cs typeface="Garamond"/>
                <a:sym typeface="Garamon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8" name="Google Shape;2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90799" y="364900"/>
            <a:ext cx="1296949" cy="339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2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2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3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3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aramond"/>
              <a:buNone/>
              <a:defRPr b="0" i="0" sz="2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4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34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4"/>
          <p:cNvSpPr txBox="1"/>
          <p:nvPr/>
        </p:nvSpPr>
        <p:spPr>
          <a:xfrm>
            <a:off x="8778240" y="668655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39556A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b="0" i="0" sz="800" u="none" cap="none" strike="noStrike">
              <a:solidFill>
                <a:srgbClr val="39556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5"/>
          <p:cNvSpPr txBox="1"/>
          <p:nvPr>
            <p:ph type="title"/>
          </p:nvPr>
        </p:nvSpPr>
        <p:spPr>
          <a:xfrm>
            <a:off x="678820" y="3429000"/>
            <a:ext cx="10834360" cy="1025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b="0" sz="3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01" name="Google Shape;101;p35"/>
          <p:cNvCxnSpPr/>
          <p:nvPr/>
        </p:nvCxnSpPr>
        <p:spPr>
          <a:xfrm>
            <a:off x="0" y="4267333"/>
            <a:ext cx="11091463" cy="0"/>
          </a:xfrm>
          <a:prstGeom prst="straightConnector1">
            <a:avLst/>
          </a:prstGeom>
          <a:noFill/>
          <a:ln cap="flat" cmpd="sng" w="38100">
            <a:solidFill>
              <a:srgbClr val="1A0D47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6.png"/><Relationship Id="rId5" Type="http://schemas.openxmlformats.org/officeDocument/2006/relationships/image" Target="../media/image30.png"/><Relationship Id="rId6" Type="http://schemas.openxmlformats.org/officeDocument/2006/relationships/image" Target="../media/image3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Relationship Id="rId5" Type="http://schemas.openxmlformats.org/officeDocument/2006/relationships/image" Target="../media/image27.png"/><Relationship Id="rId6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Relationship Id="rId5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png"/><Relationship Id="rId4" Type="http://schemas.openxmlformats.org/officeDocument/2006/relationships/image" Target="../media/image33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Relationship Id="rId4" Type="http://schemas.openxmlformats.org/officeDocument/2006/relationships/image" Target="../media/image39.png"/><Relationship Id="rId5" Type="http://schemas.openxmlformats.org/officeDocument/2006/relationships/image" Target="../media/image4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0.png"/><Relationship Id="rId4" Type="http://schemas.openxmlformats.org/officeDocument/2006/relationships/image" Target="../media/image38.png"/><Relationship Id="rId5" Type="http://schemas.openxmlformats.org/officeDocument/2006/relationships/image" Target="../media/image41.png"/><Relationship Id="rId6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 txBox="1"/>
          <p:nvPr/>
        </p:nvSpPr>
        <p:spPr>
          <a:xfrm>
            <a:off x="1263050" y="1067125"/>
            <a:ext cx="96660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4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4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Predicting bond defaults based on credit rating, default risk, coupon rate, and market liquidity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FNCE 2370 Final Presentation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April 24, 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Sofia Boubsis, Keshav Ramesh, Matthew 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>
            <p:ph type="title"/>
          </p:nvPr>
        </p:nvSpPr>
        <p:spPr>
          <a:xfrm>
            <a:off x="519440" y="24869"/>
            <a:ext cx="108345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</a:pPr>
            <a:r>
              <a:rPr lang="en-US"/>
              <a:t>Introduction of Study</a:t>
            </a:r>
            <a:endParaRPr/>
          </a:p>
        </p:txBody>
      </p:sp>
      <p:sp>
        <p:nvSpPr>
          <p:cNvPr id="113" name="Google Shape;113;p4"/>
          <p:cNvSpPr txBox="1"/>
          <p:nvPr/>
        </p:nvSpPr>
        <p:spPr>
          <a:xfrm>
            <a:off x="533725" y="1029959"/>
            <a:ext cx="5403000" cy="30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4F0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Research Question and Hypothesis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6269665" y="1029958"/>
            <a:ext cx="5403000" cy="30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4F0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Research Question and Hypothesis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6269665" y="1408687"/>
            <a:ext cx="5126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6269675" y="4764234"/>
            <a:ext cx="5403000" cy="30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4F0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Real World Significance of Study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533725" y="1373213"/>
            <a:ext cx="5388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Can bond characteristics such as credit rating, default risk, coupon rate, and market liquidity be used to forecast bond defaults? If so, which factors are the most predictive?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33725" y="2110375"/>
            <a:ext cx="5465100" cy="4127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Primary Predictive Hypothesis (General):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H1: Bond characteristics such as credit rating, coupon rate, duration, market spread, and issuance size are significant predictors of corporate bond defaults.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Variable-Specific Hypotheses: 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H2: Bonds with lower credit ratings (e.g., speculative grade) are more likely to default than those with higher credit ratings (investment grade).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H3: Bonds with higher coupon rates are more likely to default, reflecting the increased risk premium demanded by investors.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H4: Bonds with lower issuance amounts are more prone to default, potentially indicating weaker financial standing of the issuer.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H5: Bonds with higher market spreads and lower trading volume are more likely to default, due to illiquidity and market uncertainty.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H6: Bonds with higher yields to maturity (YTM) are more likely to default, as elevated yields reflect higher perceived risk by the market.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H7: Bonds closer to maturity (shorter time-to-maturity) show an elevated likelihood of default, possibly reflecting issuers’ inability to refinance or repay obligations.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6276875" y="1373213"/>
            <a:ext cx="53886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We used the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Wharton Research Data Services (WRDS) Bond Database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, which is a specialized and refined resource offered through Penn that is designed for U.S. corporate bond research.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It integrates data from two key sources: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FINRA’s TRACE (Trade Reporting and Compliance Engine)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, which captures bond transaction details, and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Mergent FISD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, which provides information on bond issues and issuer characteristics.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This dataset compiles corporate bond data from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January 1st, 2003, to December 31st, 2023 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(a 21-year time span) for the 30 major companies currently listed in the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Dow Jones Industrial Average (DJIA)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– a widely recognized index of blue-chip stocks. </a:t>
            </a:r>
            <a:endParaRPr b="0" i="0" sz="1200" u="none" cap="none" strike="noStrik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6269675" y="5072013"/>
            <a:ext cx="5388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Investors: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assess risk more accurately and optimize portfolios.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Regulators: 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set capital requirements for financial institutions.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Bond issuers: 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improve bond appeal, reducing borrowing costs.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Credit rating agencies: 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enhance rating models with data.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Researchers and academics: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advance credit risk theory.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descr="WRDS" id="121" name="Google Shape;12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7925" y="3835925"/>
            <a:ext cx="2122444" cy="7986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NRA" id="122" name="Google Shape;122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24379" y="3586145"/>
            <a:ext cx="2122451" cy="1175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4df5b7acfc_0_49"/>
          <p:cNvSpPr txBox="1"/>
          <p:nvPr>
            <p:ph type="title"/>
          </p:nvPr>
        </p:nvSpPr>
        <p:spPr>
          <a:xfrm>
            <a:off x="519440" y="24869"/>
            <a:ext cx="108345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</a:pPr>
            <a:r>
              <a:rPr lang="en-US"/>
              <a:t>Exploratory Data Analysis (EDA)</a:t>
            </a:r>
            <a:endParaRPr/>
          </a:p>
        </p:txBody>
      </p:sp>
      <p:sp>
        <p:nvSpPr>
          <p:cNvPr id="129" name="Google Shape;129;g34df5b7acfc_0_49"/>
          <p:cNvSpPr txBox="1"/>
          <p:nvPr/>
        </p:nvSpPr>
        <p:spPr>
          <a:xfrm>
            <a:off x="533725" y="1029950"/>
            <a:ext cx="6788400" cy="30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4F0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Key Insights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4df5b7acfc_0_49"/>
          <p:cNvSpPr txBox="1"/>
          <p:nvPr/>
        </p:nvSpPr>
        <p:spPr>
          <a:xfrm>
            <a:off x="533725" y="1408725"/>
            <a:ext cx="6788400" cy="2031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Defaults are rare: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only 0.26% of bonds defaulted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in a 21-year period across 158,440 issuances.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Defaulted bonds have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higher coupon rates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, suggesting elevated risk premiums.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Smaller bond offerings are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more prone to default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, reflecting weaker issuer profiles.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Defaulted bonds tend to have longer maturities, indicating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exposure to long-term risk.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No clear monotonic trend – BBB-rated bonds show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highest short-term default rate.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Coupon is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moderately correlated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with TMT and issuance size, but not strongly with credit rating.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There is class imbalance – 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skewed distribution of defaults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necessitates modeling techniques to handle imbalance.</a:t>
            </a:r>
            <a:endParaRPr i="0" sz="1200" u="none" cap="none" strike="noStrik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131" name="Google Shape;131;g34df5b7acfc_0_49" title="Screenshot 2025-04-21 at 5.13.3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8075" y="957638"/>
            <a:ext cx="3525883" cy="293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4df5b7acfc_0_49" title="Screenshot 2025-04-21 at 5.16.4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4018" y="3583226"/>
            <a:ext cx="2194761" cy="25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34df5b7acfc_0_49" title="Screenshot 2025-04-21 at 5.16.56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8125" y="3583255"/>
            <a:ext cx="2194761" cy="2534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34df5b7acfc_0_49" title="Screenshot 2025-04-21 at 5.17.10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22165" y="3583225"/>
            <a:ext cx="2194761" cy="2576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34df5b7acfc_0_49" title="Screenshot 2025-04-21 at 5.26.59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92524" y="3922160"/>
            <a:ext cx="4271674" cy="2328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db5ca921c_0_12"/>
          <p:cNvSpPr txBox="1"/>
          <p:nvPr>
            <p:ph type="title"/>
          </p:nvPr>
        </p:nvSpPr>
        <p:spPr>
          <a:xfrm>
            <a:off x="519440" y="24869"/>
            <a:ext cx="108345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</a:pPr>
            <a:r>
              <a:rPr lang="en-US"/>
              <a:t>Model 1: Logistic Regression Model</a:t>
            </a:r>
            <a:endParaRPr/>
          </a:p>
        </p:txBody>
      </p:sp>
      <p:sp>
        <p:nvSpPr>
          <p:cNvPr id="142" name="Google Shape;142;g34db5ca921c_0_12"/>
          <p:cNvSpPr txBox="1"/>
          <p:nvPr/>
        </p:nvSpPr>
        <p:spPr>
          <a:xfrm>
            <a:off x="510000" y="938150"/>
            <a:ext cx="11172000" cy="30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4F0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Model Snapshot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4db5ca921c_0_12"/>
          <p:cNvSpPr/>
          <p:nvPr/>
        </p:nvSpPr>
        <p:spPr>
          <a:xfrm>
            <a:off x="3893250" y="1344900"/>
            <a:ext cx="7786200" cy="218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The logistic regression model shows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high overall accuracy (0.9940). 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It has high precision for non-default class (class 0), meaning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most predicted non-defaults are correct. 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Precision for default class (class 1) is 0.50, indicating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half of the predicted defaults are actual defaults. 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Recall for defaults is extremely low (0.0118)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, capturing just over 1% of true defaults. This leads to a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very low F1 score (0.0230)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, highlighting poor balance in predictive power.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The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ROC-AUC score is strong (0.9224),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suggesting the model discriminates well between classes overall. However, the model is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heavily biased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toward the majority class (non-default).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In practice, this makes the model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highly conservative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, excellent at identifying non-defaults but ineffective at catching rare but important default events.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This reflects a common challenge in imbalanced classification tasks, especially in credit risk prediction.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44" name="Google Shape;144;g34db5ca921c_0_12" title="Screenshot 2025-04-21 at 11.07.0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316" y="1416813"/>
            <a:ext cx="3310934" cy="2037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4db5ca921c_0_12"/>
          <p:cNvSpPr txBox="1"/>
          <p:nvPr/>
        </p:nvSpPr>
        <p:spPr>
          <a:xfrm>
            <a:off x="510000" y="3694513"/>
            <a:ext cx="11172000" cy="30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4F0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Model Evaluation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g34db5ca921c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5075" y="4095062"/>
            <a:ext cx="3087775" cy="2100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34db5ca921c_0_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66149" y="4126400"/>
            <a:ext cx="2995525" cy="2037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34db5ca921c_0_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44974" y="4071586"/>
            <a:ext cx="2784185" cy="21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db5ca921c_0_194"/>
          <p:cNvSpPr txBox="1"/>
          <p:nvPr>
            <p:ph type="title"/>
          </p:nvPr>
        </p:nvSpPr>
        <p:spPr>
          <a:xfrm>
            <a:off x="519440" y="24869"/>
            <a:ext cx="108345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</a:pPr>
            <a:r>
              <a:rPr lang="en-US"/>
              <a:t>Model 2: Decision Tree</a:t>
            </a:r>
            <a:endParaRPr/>
          </a:p>
        </p:txBody>
      </p:sp>
      <p:sp>
        <p:nvSpPr>
          <p:cNvPr id="155" name="Google Shape;155;g34db5ca921c_0_194"/>
          <p:cNvSpPr txBox="1"/>
          <p:nvPr/>
        </p:nvSpPr>
        <p:spPr>
          <a:xfrm>
            <a:off x="510000" y="938150"/>
            <a:ext cx="11172000" cy="30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4F0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Model Snapshot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4db5ca921c_0_194"/>
          <p:cNvSpPr/>
          <p:nvPr/>
        </p:nvSpPr>
        <p:spPr>
          <a:xfrm>
            <a:off x="3893250" y="1344900"/>
            <a:ext cx="7932300" cy="226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The decision tree model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outperforms logistic regression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in detecting bond defaults.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It achieves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near perfect accuracy (1.00)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on the test set.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Precision for defaults is high (0.91), meaning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91% of predicted defaults are correct. 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Recall for defaults is 0.46, correctly identifying 39 out of 85 actual defaults. This results in a much stronger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F1 score of 0.61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for the default class, compared to 0.02 from logistic regression.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The ROC-AUC score is also high (0.9481), indicating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strong overall class separation. 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Signs of overfitting may be present, as the model classifies nearly all test samples correctly.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The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perfect non-default recall (1.00)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could indicate memorization of patterns rather than generalization.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 max depth of 5 helps control complexity, but further validation is needed to confirm robustness.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Future testing on validation folds or unseen data is recommended to assess generalization performance.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57" name="Google Shape;157;g34db5ca921c_0_194" title="Screenshot 2025-04-21 at 11.27.2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450" y="1530750"/>
            <a:ext cx="3272551" cy="187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4db5ca921c_0_194"/>
          <p:cNvSpPr txBox="1"/>
          <p:nvPr/>
        </p:nvSpPr>
        <p:spPr>
          <a:xfrm>
            <a:off x="510000" y="3706450"/>
            <a:ext cx="11172000" cy="30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4F0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Model Evaluation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g34db5ca921c_0_1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5800" y="4113200"/>
            <a:ext cx="3160499" cy="2149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34db5ca921c_0_1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5750" y="4076725"/>
            <a:ext cx="3160499" cy="2149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34db5ca921c_0_1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46275" y="4076725"/>
            <a:ext cx="2787504" cy="214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db5ca921c_0_211"/>
          <p:cNvSpPr txBox="1"/>
          <p:nvPr>
            <p:ph type="title"/>
          </p:nvPr>
        </p:nvSpPr>
        <p:spPr>
          <a:xfrm>
            <a:off x="519440" y="24869"/>
            <a:ext cx="108345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</a:pPr>
            <a:r>
              <a:rPr lang="en-US"/>
              <a:t>Model 3: Random Forest</a:t>
            </a:r>
            <a:endParaRPr/>
          </a:p>
        </p:txBody>
      </p:sp>
      <p:sp>
        <p:nvSpPr>
          <p:cNvPr id="168" name="Google Shape;168;g34db5ca921c_0_211"/>
          <p:cNvSpPr txBox="1"/>
          <p:nvPr/>
        </p:nvSpPr>
        <p:spPr>
          <a:xfrm>
            <a:off x="510000" y="938150"/>
            <a:ext cx="11172000" cy="30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4F0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Model Snapshot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4db5ca921c_0_211"/>
          <p:cNvSpPr/>
          <p:nvPr/>
        </p:nvSpPr>
        <p:spPr>
          <a:xfrm>
            <a:off x="3893250" y="1344900"/>
            <a:ext cx="7932300" cy="226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R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andom forest model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outperforms both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logistic regression and the decision tree across nearly all metrics.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It achieves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near perfect overall accuracy (1.00)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on the test set.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For defaults, it delivers precision of 0.98 and recall of 0.76, showing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excellent balance.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The resulting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F1 score of 0.86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indicates strong performance in identifying defaults without compromising precision.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Its ROC-AUC score is near-perfect (0.9996), showing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outstanding class separation. 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The model effectively captures complex, nonlinear relationships through its ensemble structure.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Overfitting is reduced via averaging across multiple trees.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Despite strong results, cross-validation or out-of-sample testing is necessary to confirm robustness.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70" name="Google Shape;170;g34db5ca921c_0_211" title="Screenshot 2025-04-21 at 11.17.5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000" y="1701350"/>
            <a:ext cx="3354017" cy="154968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4db5ca921c_0_211"/>
          <p:cNvSpPr txBox="1"/>
          <p:nvPr/>
        </p:nvSpPr>
        <p:spPr>
          <a:xfrm>
            <a:off x="510000" y="3706450"/>
            <a:ext cx="11172000" cy="30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4F0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Model Evaluation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g34db5ca921c_0_2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8575" y="4113199"/>
            <a:ext cx="3160499" cy="2149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4db5ca921c_0_2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5774" y="4113199"/>
            <a:ext cx="3160449" cy="214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4db5ca921c_0_2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62925" y="4113200"/>
            <a:ext cx="2787483" cy="214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4db5ca921c_0_228"/>
          <p:cNvSpPr txBox="1"/>
          <p:nvPr>
            <p:ph type="title"/>
          </p:nvPr>
        </p:nvSpPr>
        <p:spPr>
          <a:xfrm>
            <a:off x="519440" y="24869"/>
            <a:ext cx="108345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</a:pPr>
            <a:r>
              <a:rPr lang="en-US"/>
              <a:t>Model 4: XGBoost</a:t>
            </a:r>
            <a:endParaRPr/>
          </a:p>
        </p:txBody>
      </p:sp>
      <p:sp>
        <p:nvSpPr>
          <p:cNvPr id="181" name="Google Shape;181;g34db5ca921c_0_228"/>
          <p:cNvSpPr txBox="1"/>
          <p:nvPr/>
        </p:nvSpPr>
        <p:spPr>
          <a:xfrm>
            <a:off x="510000" y="938150"/>
            <a:ext cx="11172000" cy="30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4F0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Model Snapshot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4db5ca921c_0_228"/>
          <p:cNvSpPr/>
          <p:nvPr/>
        </p:nvSpPr>
        <p:spPr>
          <a:xfrm>
            <a:off x="3893250" y="1344900"/>
            <a:ext cx="7932300" cy="226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The XGBoost model achieves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near perfect overall accuracy (1.00)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on test set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It has a very high ROC-AUC score of 0.9989, showing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near perfect class separation. 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For defaults, it reaches precision of 0.89 and recall of 0.58, with an F1 score of 0.70.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While slightly more conservative than random forest, it still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captures over half of all actual defaults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reliably.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XGBoost balances predictive power and conservatism, making fewer but more precise default predictions.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It models complex, nonlinear relationships while using regularization to avoid overfitting.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Compared to logistic regression and decision trees, XGBoost offers a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strong balance of performance and interpretability.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It is a robust and reliable choice for bond default prediction.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3" name="Google Shape;183;g34db5ca921c_0_228"/>
          <p:cNvSpPr txBox="1"/>
          <p:nvPr/>
        </p:nvSpPr>
        <p:spPr>
          <a:xfrm>
            <a:off x="510000" y="3706450"/>
            <a:ext cx="11172000" cy="30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4F0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Model Evaluation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g34db5ca921c_0_228" title="Screenshot 2025-04-21 at 3.50.1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000" y="1622326"/>
            <a:ext cx="3383250" cy="1583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g34db5ca921c_0_228" title="Screenshot 2025-04-21 at 3.52.2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1000" y="4104075"/>
            <a:ext cx="3179675" cy="209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34db5ca921c_0_228" title="Screenshot 2025-04-21 at 3.53.01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59875" y="4104075"/>
            <a:ext cx="3179675" cy="209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34db5ca921c_0_228" title="Screenshot 2025-04-21 at 3.53.58 PM.png"/>
          <p:cNvPicPr preferRelativeResize="0"/>
          <p:nvPr/>
        </p:nvPicPr>
        <p:blipFill rotWithShape="1">
          <a:blip r:embed="rId6">
            <a:alphaModFix/>
          </a:blip>
          <a:srcRect b="0" l="0" r="12884" t="0"/>
          <a:stretch/>
        </p:blipFill>
        <p:spPr>
          <a:xfrm>
            <a:off x="8203525" y="4113200"/>
            <a:ext cx="2769856" cy="209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4db5ca921c_0_240"/>
          <p:cNvSpPr txBox="1"/>
          <p:nvPr>
            <p:ph type="title"/>
          </p:nvPr>
        </p:nvSpPr>
        <p:spPr>
          <a:xfrm>
            <a:off x="519440" y="24869"/>
            <a:ext cx="108345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</a:pPr>
            <a:r>
              <a:rPr lang="en-US"/>
              <a:t>Model 5: Neural Networks</a:t>
            </a:r>
            <a:endParaRPr/>
          </a:p>
        </p:txBody>
      </p:sp>
      <p:sp>
        <p:nvSpPr>
          <p:cNvPr id="194" name="Google Shape;194;g34db5ca921c_0_240"/>
          <p:cNvSpPr txBox="1"/>
          <p:nvPr/>
        </p:nvSpPr>
        <p:spPr>
          <a:xfrm>
            <a:off x="510000" y="938150"/>
            <a:ext cx="11172000" cy="30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4F0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Model Snapshot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4db5ca921c_0_240"/>
          <p:cNvSpPr/>
          <p:nvPr/>
        </p:nvSpPr>
        <p:spPr>
          <a:xfrm>
            <a:off x="3893250" y="1344900"/>
            <a:ext cx="7932300" cy="204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N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eural network achieves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near perfect overall accuracy (1.00),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driven by strong performance on non-defaults.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For defaults, it reaches precision of 0.85, indicating that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predicted defaults are usually correct. 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Recall is low (0.20), identifying only 17 out of 85 actual defaults.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The resulting F1 score is 0.32 – better than logistic regression, but lower than Random Forest and XGBoost.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ROC-AUC score is high (0.9853), showing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strong ability to rank default risk. 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The model’s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default threshold (0.5) misses many actual defaults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, limiting recall.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It captures useful nonlinear patterns, making it a solid baseline for deep learning.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Improving recall may require class balancing or threshold tuning.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96" name="Google Shape;196;g34db5ca921c_0_240" title="Screenshot 2025-04-21 at 11.25.2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450" y="1725775"/>
            <a:ext cx="3268300" cy="150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4db5ca921c_0_240"/>
          <p:cNvSpPr txBox="1"/>
          <p:nvPr/>
        </p:nvSpPr>
        <p:spPr>
          <a:xfrm>
            <a:off x="510000" y="3554050"/>
            <a:ext cx="11172000" cy="30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4F0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Model Evaluation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g34db5ca921c_0_2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9275" y="3969250"/>
            <a:ext cx="3264650" cy="2220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34db5ca921c_0_2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63675" y="3969250"/>
            <a:ext cx="3264650" cy="2220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g34db5ca921c_0_2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01175" y="3969244"/>
            <a:ext cx="2879376" cy="2220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4db5ca921c_0_123"/>
          <p:cNvSpPr txBox="1"/>
          <p:nvPr>
            <p:ph type="title"/>
          </p:nvPr>
        </p:nvSpPr>
        <p:spPr>
          <a:xfrm>
            <a:off x="519440" y="24869"/>
            <a:ext cx="108345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</a:pPr>
            <a:r>
              <a:rPr lang="en-US"/>
              <a:t>Feature Importance (For Tree-Based Models)</a:t>
            </a:r>
            <a:endParaRPr/>
          </a:p>
        </p:txBody>
      </p:sp>
      <p:pic>
        <p:nvPicPr>
          <p:cNvPr id="207" name="Google Shape;207;g34db5ca921c_0_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7875" y="984200"/>
            <a:ext cx="4487674" cy="244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34db5ca921c_0_1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6075" y="1049975"/>
            <a:ext cx="4245949" cy="231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34db5ca921c_0_1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87875" y="3426725"/>
            <a:ext cx="4487674" cy="244254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4db5ca921c_0_123"/>
          <p:cNvSpPr/>
          <p:nvPr/>
        </p:nvSpPr>
        <p:spPr>
          <a:xfrm>
            <a:off x="5966075" y="3602925"/>
            <a:ext cx="4245900" cy="21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coupon_rating_interaction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by far the most important feature across models, indicating that the combined effect of coupon rates and credit ratings is particularly informative for capturing risk-adjusted return dynamics.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rolling_avg_yield_6m / rolling_avg_yield_12m 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are also consistently ranked as significant across models, reinforcing the value of yield-based variables in identifying credit risk patterns.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4db5ca921c_0_267"/>
          <p:cNvSpPr txBox="1"/>
          <p:nvPr>
            <p:ph type="title"/>
          </p:nvPr>
        </p:nvSpPr>
        <p:spPr>
          <a:xfrm>
            <a:off x="519440" y="24869"/>
            <a:ext cx="108345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</a:pPr>
            <a:r>
              <a:rPr lang="en-US"/>
              <a:t>Forecasting Defaults &amp; Holdout Backtesting</a:t>
            </a:r>
            <a:endParaRPr/>
          </a:p>
        </p:txBody>
      </p:sp>
      <p:sp>
        <p:nvSpPr>
          <p:cNvPr id="217" name="Google Shape;217;g34db5ca921c_0_267"/>
          <p:cNvSpPr txBox="1"/>
          <p:nvPr/>
        </p:nvSpPr>
        <p:spPr>
          <a:xfrm>
            <a:off x="510000" y="938150"/>
            <a:ext cx="11172000" cy="30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4F0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Backtesting Report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4db5ca921c_0_267"/>
          <p:cNvSpPr/>
          <p:nvPr/>
        </p:nvSpPr>
        <p:spPr>
          <a:xfrm>
            <a:off x="3893250" y="1344900"/>
            <a:ext cx="7788900" cy="204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Backtesting on the logistic regression model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shows strong overall performance with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near-perfect accuracy (1.00)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and ROC-AUC (0.9997).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High precision for defaults (0.88) indicates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confident predictions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, but low recall (0.29) means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many actual defaults are missed. 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This model of historical data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favors the majority class due to data imbalance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, as shown by 17 out of 24 defaults being missed in the confusion matrix.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The resulting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precision-recall curve reflects solid performance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despite class rarity.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In backtesting the logistic regression model, we find that it is conservative – 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few false alarms but many missed defaults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– making it effective for screening safe bonds.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9" name="Google Shape;219;g34db5ca921c_0_267"/>
          <p:cNvSpPr txBox="1"/>
          <p:nvPr/>
        </p:nvSpPr>
        <p:spPr>
          <a:xfrm>
            <a:off x="510000" y="3554050"/>
            <a:ext cx="11172000" cy="30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4F0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Model Evaluation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g34db5ca921c_0_267" title="Screenshot 2025-04-21 at 4.08.5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000" y="1642930"/>
            <a:ext cx="3264649" cy="1318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g34db5ca921c_0_2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1425" y="4023800"/>
            <a:ext cx="3184449" cy="216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g34db5ca921c_0_2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3769" y="4023800"/>
            <a:ext cx="3184449" cy="2165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g34db5ca921c_0_2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86125" y="4023800"/>
            <a:ext cx="2765775" cy="216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4db5ca921c_0_287"/>
          <p:cNvSpPr txBox="1"/>
          <p:nvPr>
            <p:ph type="title"/>
          </p:nvPr>
        </p:nvSpPr>
        <p:spPr>
          <a:xfrm>
            <a:off x="519440" y="24869"/>
            <a:ext cx="108345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</a:pPr>
            <a:r>
              <a:rPr lang="en-US"/>
              <a:t>Forecasting Defaults</a:t>
            </a:r>
            <a:r>
              <a:rPr lang="en-US"/>
              <a:t> &amp; Holdout Backtesting</a:t>
            </a:r>
            <a:endParaRPr/>
          </a:p>
        </p:txBody>
      </p:sp>
      <p:sp>
        <p:nvSpPr>
          <p:cNvPr id="230" name="Google Shape;230;g34db5ca921c_0_287"/>
          <p:cNvSpPr txBox="1"/>
          <p:nvPr/>
        </p:nvSpPr>
        <p:spPr>
          <a:xfrm>
            <a:off x="510000" y="938150"/>
            <a:ext cx="11172000" cy="30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4F0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Precision–Recall vs. Threshold Plot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4db5ca921c_0_287"/>
          <p:cNvSpPr/>
          <p:nvPr/>
        </p:nvSpPr>
        <p:spPr>
          <a:xfrm>
            <a:off x="3893100" y="1376400"/>
            <a:ext cx="7788900" cy="169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The Precision–Recall vs. Threshold plot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reveals the model’s trade-off behavior under varying thresholds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, crucial for imbalanced data.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At thresholds &lt; 0.2, recall is near perfect but precision drops,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leading to many false positives. 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As the threshold increases,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precision rises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(above 85%), but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recall declines 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sharply beyond 0.4.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The optimal balance lies around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threshold ≈ 0.35 – 0.4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, offering a trade-off between catching defaults and limiting false alarms.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This aligns with the confusion matrix, highlighting that a default 0.5 threshold may miss real risk cases.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The curve guides threshold tuning based on priorities like risk tolerance vs. cost of false positives.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32" name="Google Shape;232;g34db5ca921c_0_287"/>
          <p:cNvSpPr txBox="1"/>
          <p:nvPr/>
        </p:nvSpPr>
        <p:spPr>
          <a:xfrm>
            <a:off x="510000" y="3173638"/>
            <a:ext cx="11172000" cy="30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4F0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Expanding Window Backtesting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g34db5ca921c_0_2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0350" y="1376400"/>
            <a:ext cx="2414300" cy="169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g34db5ca921c_0_2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0500" y="3946563"/>
            <a:ext cx="4221500" cy="198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g34db5ca921c_0_287" title="Screenshot 2025-04-21 at 4.44.26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5151" y="3587600"/>
            <a:ext cx="3755348" cy="27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4db5ca921c_0_287"/>
          <p:cNvSpPr/>
          <p:nvPr/>
        </p:nvSpPr>
        <p:spPr>
          <a:xfrm>
            <a:off x="3728750" y="5523700"/>
            <a:ext cx="3755400" cy="481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4db5ca921c_0_287"/>
          <p:cNvSpPr/>
          <p:nvPr/>
        </p:nvSpPr>
        <p:spPr>
          <a:xfrm>
            <a:off x="510000" y="3587600"/>
            <a:ext cx="3131100" cy="262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emonstrates discriminative power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(consistently high ROC-AUC)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Requires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more aggressive thresholding or oversampling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techniques to improve recall in years with sparse default events.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Recent years in backtest with sufficient volume of default data and right threshold calibration (e.g., 0.2) confirm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model can anticipate bond defaults 12 months in advance with high effectiveness.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4db5ca921c_0_32"/>
          <p:cNvSpPr txBox="1"/>
          <p:nvPr>
            <p:ph type="title"/>
          </p:nvPr>
        </p:nvSpPr>
        <p:spPr>
          <a:xfrm>
            <a:off x="519440" y="24869"/>
            <a:ext cx="108345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</a:pPr>
            <a:r>
              <a:rPr lang="en-US"/>
              <a:t>Financial Insights</a:t>
            </a:r>
            <a:r>
              <a:rPr lang="en-US"/>
              <a:t> </a:t>
            </a:r>
            <a:endParaRPr/>
          </a:p>
        </p:txBody>
      </p:sp>
      <p:sp>
        <p:nvSpPr>
          <p:cNvPr id="244" name="Google Shape;244;g34db5ca921c_0_32"/>
          <p:cNvSpPr txBox="1"/>
          <p:nvPr/>
        </p:nvSpPr>
        <p:spPr>
          <a:xfrm>
            <a:off x="519450" y="1029950"/>
            <a:ext cx="5499000" cy="30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4F0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 Credit Rating &amp; Default Risk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4db5ca921c_0_32"/>
          <p:cNvSpPr txBox="1"/>
          <p:nvPr/>
        </p:nvSpPr>
        <p:spPr>
          <a:xfrm>
            <a:off x="519450" y="1373225"/>
            <a:ext cx="5499000" cy="1600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BBB-rated bonds have the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highest 12-month default rate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(0.32%), higher than BB (0.16%) and even B and Below (0%).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Indicates a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non-linear risk pattern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, with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BBB bonds most vulnerable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to short-term credit deterioration.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AAA–A and B &amp; Below bonds showed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no defaults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 – possibly due to high credit quality or small sample sizes.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BB bonds dominate the dataset, making them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relevant for portfolio risk.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46" name="Google Shape;246;g34db5ca921c_0_32"/>
          <p:cNvSpPr txBox="1"/>
          <p:nvPr/>
        </p:nvSpPr>
        <p:spPr>
          <a:xfrm>
            <a:off x="6215050" y="1029950"/>
            <a:ext cx="5499000" cy="30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4F0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Time to Maturity (TMT) &amp; Default Risk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4db5ca921c_0_32"/>
          <p:cNvSpPr txBox="1"/>
          <p:nvPr/>
        </p:nvSpPr>
        <p:spPr>
          <a:xfrm>
            <a:off x="6215050" y="1373225"/>
            <a:ext cx="5499000" cy="2031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>
                <a:latin typeface="EB Garamond"/>
                <a:ea typeface="EB Garamond"/>
                <a:cs typeface="EB Garamond"/>
                <a:sym typeface="EB Garamond"/>
              </a:rPr>
              <a:t>Defaulted bonds have </a:t>
            </a:r>
            <a:r>
              <a:rPr b="1" lang="en-US">
                <a:latin typeface="EB Garamond"/>
                <a:ea typeface="EB Garamond"/>
                <a:cs typeface="EB Garamond"/>
                <a:sym typeface="EB Garamond"/>
              </a:rPr>
              <a:t>longer maturities</a:t>
            </a:r>
            <a:r>
              <a:rPr lang="en-US">
                <a:latin typeface="EB Garamond"/>
                <a:ea typeface="EB Garamond"/>
                <a:cs typeface="EB Garamond"/>
                <a:sym typeface="EB Garamond"/>
              </a:rPr>
              <a:t> (median ≈ 17 years) vs. ~4 years for non-defaulted bonds.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>
                <a:latin typeface="EB Garamond"/>
                <a:ea typeface="EB Garamond"/>
                <a:cs typeface="EB Garamond"/>
                <a:sym typeface="EB Garamond"/>
              </a:rPr>
              <a:t>Highest default rate (1.24%) occurs in bonds with 10+ years to maturity.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>
                <a:latin typeface="EB Garamond"/>
                <a:ea typeface="EB Garamond"/>
                <a:cs typeface="EB Garamond"/>
                <a:sym typeface="EB Garamond"/>
              </a:rPr>
              <a:t>No defaults observed in bonds maturing in &lt;5 years.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>
                <a:latin typeface="EB Garamond"/>
                <a:ea typeface="EB Garamond"/>
                <a:cs typeface="EB Garamond"/>
                <a:sym typeface="EB Garamond"/>
              </a:rPr>
              <a:t>Defaults </a:t>
            </a:r>
            <a:r>
              <a:rPr b="1" lang="en-US">
                <a:latin typeface="EB Garamond"/>
                <a:ea typeface="EB Garamond"/>
                <a:cs typeface="EB Garamond"/>
                <a:sym typeface="EB Garamond"/>
              </a:rPr>
              <a:t>cluster in long right tail </a:t>
            </a:r>
            <a:r>
              <a:rPr lang="en-US">
                <a:latin typeface="EB Garamond"/>
                <a:ea typeface="EB Garamond"/>
                <a:cs typeface="EB Garamond"/>
                <a:sym typeface="EB Garamond"/>
              </a:rPr>
              <a:t>(TMT &gt; 20 years), per the histogram.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>
                <a:latin typeface="EB Garamond"/>
                <a:ea typeface="EB Garamond"/>
                <a:cs typeface="EB Garamond"/>
                <a:sym typeface="EB Garamond"/>
              </a:rPr>
              <a:t>Suggests longer-dated bonds face </a:t>
            </a:r>
            <a:r>
              <a:rPr b="1" lang="en-US">
                <a:latin typeface="EB Garamond"/>
                <a:ea typeface="EB Garamond"/>
                <a:cs typeface="EB Garamond"/>
                <a:sym typeface="EB Garamond"/>
              </a:rPr>
              <a:t>more macroeconomic, fundamental, and rate-driven risks.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>
                <a:latin typeface="EB Garamond"/>
                <a:ea typeface="EB Garamond"/>
                <a:cs typeface="EB Garamond"/>
                <a:sym typeface="EB Garamond"/>
              </a:rPr>
              <a:t>Insight: </a:t>
            </a:r>
            <a:r>
              <a:rPr b="1" lang="en-US">
                <a:latin typeface="EB Garamond"/>
                <a:ea typeface="EB Garamond"/>
                <a:cs typeface="EB Garamond"/>
                <a:sym typeface="EB Garamond"/>
              </a:rPr>
              <a:t>maturity structure is key</a:t>
            </a:r>
            <a:r>
              <a:rPr lang="en-US">
                <a:latin typeface="EB Garamond"/>
                <a:ea typeface="EB Garamond"/>
                <a:cs typeface="EB Garamond"/>
                <a:sym typeface="EB Garamond"/>
              </a:rPr>
              <a:t> to bond risk modeling and portfolio strategy.</a:t>
            </a:r>
            <a:endParaRPr b="0" i="0" sz="1200" u="none" cap="none" strike="noStrik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48" name="Google Shape;248;g34db5ca921c_0_32" title="Screenshot 2025-04-21 at 4.14.10 PM.png"/>
          <p:cNvPicPr preferRelativeResize="0"/>
          <p:nvPr/>
        </p:nvPicPr>
        <p:blipFill rotWithShape="1">
          <a:blip r:embed="rId3">
            <a:alphaModFix/>
          </a:blip>
          <a:srcRect b="4361" l="0" r="0" t="0"/>
          <a:stretch/>
        </p:blipFill>
        <p:spPr>
          <a:xfrm>
            <a:off x="519450" y="3009500"/>
            <a:ext cx="4019925" cy="321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g34db5ca921c_0_32" title="Screenshot 2025-04-21 at 4.18.5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4375" y="3840550"/>
            <a:ext cx="2602360" cy="89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g34db5ca921c_0_32" title="Screenshot 2025-04-21 at 4.24.54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9200" y="3440600"/>
            <a:ext cx="5402999" cy="2820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g34db5ca921c_0_32" title="Screenshot 2025-04-21 at 4.24.29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03625" y="4402838"/>
            <a:ext cx="1986034" cy="89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g34db5ca921c_0_32" title="Screenshot 2025-04-21 at 4.14.10 PM.png"/>
          <p:cNvPicPr preferRelativeResize="0"/>
          <p:nvPr/>
        </p:nvPicPr>
        <p:blipFill rotWithShape="1">
          <a:blip r:embed="rId3">
            <a:alphaModFix/>
          </a:blip>
          <a:srcRect b="0" l="0" r="20603" t="96553"/>
          <a:stretch/>
        </p:blipFill>
        <p:spPr>
          <a:xfrm>
            <a:off x="454450" y="6105650"/>
            <a:ext cx="3191575" cy="115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4df5b7acfc_0_31"/>
          <p:cNvSpPr txBox="1"/>
          <p:nvPr>
            <p:ph type="title"/>
          </p:nvPr>
        </p:nvSpPr>
        <p:spPr>
          <a:xfrm>
            <a:off x="519440" y="24869"/>
            <a:ext cx="108345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</a:pPr>
            <a:r>
              <a:rPr lang="en-US"/>
              <a:t>Conclusion &amp; Implications</a:t>
            </a:r>
            <a:endParaRPr/>
          </a:p>
        </p:txBody>
      </p:sp>
      <p:sp>
        <p:nvSpPr>
          <p:cNvPr id="259" name="Google Shape;259;g34df5b7acfc_0_31"/>
          <p:cNvSpPr txBox="1"/>
          <p:nvPr/>
        </p:nvSpPr>
        <p:spPr>
          <a:xfrm>
            <a:off x="510013" y="2614259"/>
            <a:ext cx="5403000" cy="30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4F0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Investors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4df5b7acfc_0_31"/>
          <p:cNvSpPr txBox="1"/>
          <p:nvPr/>
        </p:nvSpPr>
        <p:spPr>
          <a:xfrm>
            <a:off x="519438" y="2922038"/>
            <a:ext cx="55404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Validates model-driven credit risk analytics within portfolio management.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Can use these tools to proactively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identify high-risk bonds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– especially those with low credit ratings (notably BBB, with a 0.32% default rate), long maturities (10+ years with 1.24% default rate), or deteriorating rolling yield profiles – and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adjust their holdings to mitigate tail risks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61" name="Google Shape;261;g34df5b7acfc_0_31"/>
          <p:cNvSpPr txBox="1"/>
          <p:nvPr/>
        </p:nvSpPr>
        <p:spPr>
          <a:xfrm>
            <a:off x="6279002" y="2614258"/>
            <a:ext cx="5403000" cy="30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4F0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Credit Rating Agencies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4df5b7acfc_0_31"/>
          <p:cNvSpPr txBox="1"/>
          <p:nvPr/>
        </p:nvSpPr>
        <p:spPr>
          <a:xfrm>
            <a:off x="6278975" y="2922050"/>
            <a:ext cx="5403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Traditional rating systems can be enhanced with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ML-based indicators.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>
                <a:latin typeface="EB Garamond"/>
                <a:ea typeface="EB Garamond"/>
                <a:cs typeface="EB Garamond"/>
                <a:sym typeface="EB Garamond"/>
              </a:rPr>
              <a:t>Incorporating features like TMT, rolling yield shifts, and downgrade history </a:t>
            </a:r>
            <a:r>
              <a:rPr b="1" lang="en-US">
                <a:latin typeface="EB Garamond"/>
                <a:ea typeface="EB Garamond"/>
                <a:cs typeface="EB Garamond"/>
                <a:sym typeface="EB Garamond"/>
              </a:rPr>
              <a:t>improves forward accuracy.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lang="en-US">
                <a:latin typeface="EB Garamond"/>
                <a:ea typeface="EB Garamond"/>
                <a:cs typeface="EB Garamond"/>
                <a:sym typeface="EB Garamond"/>
              </a:rPr>
              <a:t>Default probability scores </a:t>
            </a:r>
            <a:r>
              <a:rPr lang="en-US">
                <a:latin typeface="EB Garamond"/>
                <a:ea typeface="EB Garamond"/>
                <a:cs typeface="EB Garamond"/>
                <a:sym typeface="EB Garamond"/>
              </a:rPr>
              <a:t>(e.g., &gt;0.4) could guide watchlists and rating outlooks.</a:t>
            </a:r>
            <a:endParaRPr b="0" i="0" sz="1200" u="none" cap="none" strike="noStrik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3" name="Google Shape;263;g34df5b7acfc_0_31"/>
          <p:cNvSpPr txBox="1"/>
          <p:nvPr/>
        </p:nvSpPr>
        <p:spPr>
          <a:xfrm>
            <a:off x="510050" y="4398800"/>
            <a:ext cx="54030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Safer bond design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(shorter duration, moderate coupons) reduces default risk perception.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Stable credit ratings and clear financials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reduce downgrade probability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, especially for BBB-rated firms.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4" name="Google Shape;264;g34df5b7acfc_0_31"/>
          <p:cNvSpPr txBox="1"/>
          <p:nvPr/>
        </p:nvSpPr>
        <p:spPr>
          <a:xfrm>
            <a:off x="510003" y="4091758"/>
            <a:ext cx="5403000" cy="30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4F0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Issuers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4df5b7acfc_0_31"/>
          <p:cNvSpPr txBox="1"/>
          <p:nvPr/>
        </p:nvSpPr>
        <p:spPr>
          <a:xfrm>
            <a:off x="6279002" y="4091758"/>
            <a:ext cx="5403000" cy="30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4F0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Regulators &amp; Policymakers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4df5b7acfc_0_31"/>
          <p:cNvSpPr txBox="1"/>
          <p:nvPr/>
        </p:nvSpPr>
        <p:spPr>
          <a:xfrm>
            <a:off x="6301688" y="4353900"/>
            <a:ext cx="5357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Support for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standardized, model-driven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early warning systems.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Feature-based disclosures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(e.g., yield divergence, past downgrades) promote transparency and systemic risk monitoring.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67" name="Google Shape;267;g34df5b7acfc_0_31"/>
          <p:cNvSpPr txBox="1"/>
          <p:nvPr/>
        </p:nvSpPr>
        <p:spPr>
          <a:xfrm>
            <a:off x="510000" y="1345250"/>
            <a:ext cx="11172000" cy="116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Two of our machine learning 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models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(Random Forest &amp; XGBoost)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accurately predict bond defaults,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achieving ROC-AUC &gt; 0.99, with Random Forest’s recall up to 80%, and F1-scores up to 0.88 (top performing model).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Top predictors: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coupon-rating interaction, time to maturity (TMT), rolling average yield, and recent rating trajectory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BBB-rated bonds (0.32% default rate) and long maturities (10+ years, 1.24%) are especially high risk.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Low coupon (&lt;3%) and short-term (&lt;2 years) bonds saw 0% defaults,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highlighting safe bond design traits.</a:t>
            </a:r>
            <a:endParaRPr b="1" i="0" sz="1200" u="none" cap="none" strike="noStrik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8" name="Google Shape;268;g34df5b7acfc_0_31"/>
          <p:cNvSpPr txBox="1"/>
          <p:nvPr/>
        </p:nvSpPr>
        <p:spPr>
          <a:xfrm>
            <a:off x="510000" y="938150"/>
            <a:ext cx="11172000" cy="30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4F0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Key Takeaways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4df5b7acfc_0_31"/>
          <p:cNvSpPr txBox="1"/>
          <p:nvPr/>
        </p:nvSpPr>
        <p:spPr>
          <a:xfrm>
            <a:off x="510000" y="5322800"/>
            <a:ext cx="11172000" cy="95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Challenge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: correlation analysis unexplored because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default is a binary variable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; question of correlation between defaulting and any of the predictors is unanswerable because of this.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Next Steps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: incorporate macroeconomic variables </a:t>
            </a:r>
            <a:r>
              <a:rPr b="1"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(e.g., interest rates, inflation, unemployment)</a:t>
            </a: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to capture broader market forces that may influence default risk and enhance model generalizability.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2023-04-13T02:05:54Z</dcterms:created>
  <dc:creator>Audrey Pan</dc:creator>
</cp:coreProperties>
</file>